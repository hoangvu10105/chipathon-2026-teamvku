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77440"/>
            <a:ext cx="2743200" cy="381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99"/>
                </a:solidFill>
                <a:latin typeface="Calibri"/>
              </a:defRPr>
            </a:pPr>
            <a:r>
              <a:t>SSCS Chipathon 2026 · Track A · Schematic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SFE Audio Frontend</a:t>
            </a:r>
            <a:br/>
            <a:r>
              <a:t>Spiking Frequency Encoder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AA"/>
                </a:solidFill>
                <a:latin typeface="Calibri"/>
              </a:defRPr>
            </a:pPr>
            <a:r>
              <a:t>32-Channel Neuromorphic Encoder · GF180MCU · LibreLane 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TeamVKU · Hoang Vu · github.com/hoangvu10105/chipathon-2026-teamvku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645920"/>
            <a:ext cx="411480" cy="411480"/>
          </a:xfrm>
          <a:prstGeom prst="ellipse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Project Overview &amp; 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212848"/>
            <a:ext cx="411480" cy="411480"/>
          </a:xfrm>
          <a:prstGeom prst="ellipse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2585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585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Top-Level Architecture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779776"/>
            <a:ext cx="411480" cy="411480"/>
          </a:xfrm>
          <a:prstGeom prst="ellipse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82549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2549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SFE Channel: Integrate-and-Fire Neuron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346704"/>
            <a:ext cx="411480" cy="411480"/>
          </a:xfrm>
          <a:prstGeom prst="ellipse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39242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9242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AER Event Packetizer &amp; FIFO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913632"/>
            <a:ext cx="411480" cy="41148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9593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9593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Fanout Buffer Tree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480560"/>
            <a:ext cx="411480" cy="411480"/>
          </a:xfrm>
          <a:prstGeom prst="ellipse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5262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Padring Interface &amp; Pin Assignment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047488"/>
            <a:ext cx="411480" cy="411480"/>
          </a:xfrm>
          <a:prstGeom prst="ellipse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0932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0932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Build Results &amp; Metrics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5614416"/>
            <a:ext cx="411480" cy="41148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66013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601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Open Issues &amp; Mitigations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Calibri"/>
              </a:defRPr>
            </a:pPr>
            <a:r>
              <a:t>What is the Spiking Frequency Encoder?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Calibri"/>
              </a:defRPr>
            </a:pPr>
            <a:r>
              <a:t>The SFE converts parallel input data into sparse spike-event streams using 32 adaptive integrate-and-fire neurons. Each channel implements bio-inspired neural dynamics: membrane accumulation, leakage, adaptive threshold, and refractory period. Output uses standard AER protocol for direct integration with neuromorphic processors.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C99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Calibri"/>
              </a:defRPr>
            </a:pPr>
            <a:r>
              <a:t>Frequency</a:t>
            </a:r>
            <a:br/>
            <a:r>
              <a:t>Channels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320040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99FF"/>
                </a:solidFill>
                <a:latin typeface="Calibri"/>
              </a:defRPr>
            </a:pPr>
            <a:r>
              <a:t>16-bit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3886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Calibri"/>
              </a:defRPr>
            </a:pPr>
            <a:r>
              <a:t>Data Width</a:t>
            </a:r>
            <a:br/>
            <a:r>
              <a:t>per Channel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20040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99FF"/>
                </a:solidFill>
                <a:latin typeface="Calibri"/>
              </a:defRPr>
            </a:pPr>
            <a:r>
              <a:t>Adaptive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886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Calibri"/>
              </a:defRPr>
            </a:pPr>
            <a:r>
              <a:t>Threshold</a:t>
            </a:r>
            <a:br/>
            <a:r>
              <a:t>(16–1024)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9933"/>
                </a:solidFill>
                <a:latin typeface="Calibri"/>
              </a:defRPr>
            </a:pPr>
            <a:r>
              <a:t>AER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Calibri"/>
              </a:defRPr>
            </a:pPr>
            <a:r>
              <a:t>Address Event</a:t>
            </a:r>
            <a:br/>
            <a:r>
              <a:t>Representation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484632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C99"/>
                </a:solidFill>
                <a:latin typeface="Calibri"/>
              </a:defRPr>
            </a:pPr>
            <a:r>
              <a:t>GF180MCU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Calibri"/>
              </a:defRPr>
            </a:pPr>
            <a:r>
              <a:t>180nm</a:t>
            </a:r>
            <a:br/>
            <a:r>
              <a:t>Open-Source PDK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84632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C66"/>
                </a:solidFill>
                <a:latin typeface="Calibri"/>
              </a:defRPr>
            </a:pPr>
            <a:r>
              <a:t>0.018W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Calibri"/>
              </a:defRPr>
            </a:pPr>
            <a:r>
              <a:t>Total Power</a:t>
            </a:r>
            <a:br/>
            <a:r>
              <a:t>(TT corner)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2. Top-Level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463040"/>
            <a:ext cx="7315200" cy="640080"/>
          </a:xfrm>
          <a:prstGeom prst="round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chip_top.sv — GF180MCU Padring (2935×2935 µm)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286000"/>
            <a:ext cx="6400800" cy="640080"/>
          </a:xfrm>
          <a:prstGeom prst="round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chip_core.sv — Pad Adapter + Reset Sync + Stimulus Generator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108960"/>
            <a:ext cx="5486400" cy="640080"/>
          </a:xfrm>
          <a:prstGeom prst="round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sfe_audio_frontend_top.sv — Top-Level SFE Wrapper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931920"/>
            <a:ext cx="4572000" cy="64008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sfe_encoder_bank.sv — 32× SFE Channels + Fanout Buffers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931920"/>
            <a:ext cx="4572000" cy="64008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sfe_event_packetizer.sv — AER Encoder + FIFO(16)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754880"/>
            <a:ext cx="2103120" cy="640080"/>
          </a:xfrm>
          <a:prstGeom prst="round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sfe_channel.sv</a:t>
            </a:r>
            <a:br/>
            <a:r>
              <a:t>×32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754880"/>
            <a:ext cx="2103120" cy="640080"/>
          </a:xfrm>
          <a:prstGeom prst="round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sfe_fanout_</a:t>
            </a:r>
            <a:br/>
            <a:r>
              <a:t>buffer.sv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5669280"/>
            <a:ext cx="7315200" cy="548640"/>
          </a:xfrm>
          <a:prstGeom prst="round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60×Analog Pads  |  20×Bidir Pads  |  4×DVDD + 4×DVSS  |  clk + rst_n  |  4×Corner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3. SFE Channel: Integrate-and-Fire Neuron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Calibri"/>
              </a:defRPr>
            </a:pPr>
            <a:r>
              <a:t>The core computational unit — repeated 32×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20240" cy="1097280"/>
          </a:xfrm>
          <a:prstGeom prst="round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x[n]</a:t>
            </a:r>
            <a:br/>
            <a:r>
              <a:t>16-bit</a:t>
            </a:r>
            <a:br/>
            <a:r>
              <a:t>Input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97480" y="2240280"/>
            <a:ext cx="274320" cy="274320"/>
          </a:xfrm>
          <a:prstGeom prst="rightArrow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828800"/>
            <a:ext cx="1920240" cy="10972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Σ</a:t>
            </a:r>
            <a:br/>
            <a:r>
              <a:t>Membrane</a:t>
            </a:r>
            <a:br/>
            <a:r>
              <a:t>Accumulator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83480" y="2240280"/>
            <a:ext cx="274320" cy="274320"/>
          </a:xfrm>
          <a:prstGeom prst="rightArrow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1828800"/>
            <a:ext cx="1920240" cy="109728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θ</a:t>
            </a:r>
            <a:br/>
            <a:r>
              <a:t>Compare:</a:t>
            </a:r>
            <a:br/>
            <a:r>
              <a:t>membrane ≥ theta?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69480" y="2240280"/>
            <a:ext cx="274320" cy="274320"/>
          </a:xfrm>
          <a:prstGeom prst="rightArrow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0" y="1828800"/>
            <a:ext cx="1920240" cy="1097280"/>
          </a:xfrm>
          <a:prstGeom prst="round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↑↓</a:t>
            </a:r>
            <a:br/>
            <a:r>
              <a:t>Spike</a:t>
            </a:r>
            <a:br/>
            <a:r>
              <a:t>Up/Down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55480" y="2240280"/>
            <a:ext cx="274320" cy="274320"/>
          </a:xfrm>
          <a:prstGeom prst="rightArrow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20" y="1828800"/>
            <a:ext cx="1920240" cy="1097280"/>
          </a:xfrm>
          <a:prstGeom prst="round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↻</a:t>
            </a:r>
            <a:br/>
            <a:r>
              <a:t>Refractory</a:t>
            </a:r>
            <a:br/>
            <a:r>
              <a:t>Counter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10515600" cy="301752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C99"/>
                </a:solidFill>
                <a:latin typeface="Consolas"/>
              </a:defRPr>
            </a:pPr>
            <a:r>
              <a:t>DATA_WIDTH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Input sample width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50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C99"/>
                </a:solidFill>
                <a:latin typeface="Consolas"/>
              </a:defRPr>
            </a:pPr>
            <a:r>
              <a:t>THETA_WIDTH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9502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502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Adaptive threshold width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42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C99"/>
                </a:solidFill>
                <a:latin typeface="Consolas"/>
              </a:defRPr>
            </a:pPr>
            <a:r>
              <a:t>LEAK_SHIFT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3342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342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Leakage: membrane &gt;&gt; 4 per tick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183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C99"/>
                </a:solidFill>
                <a:latin typeface="Consolas"/>
              </a:defRPr>
            </a:pPr>
            <a:r>
              <a:t>THETA_DEC_SHIFT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7183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183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Threshold adaptation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023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C99"/>
                </a:solidFill>
                <a:latin typeface="Consolas"/>
              </a:defRPr>
            </a:pPr>
            <a:r>
              <a:t>REFRACTORY_LEN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102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02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Refractory period (cycles)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C99"/>
                </a:solidFill>
                <a:latin typeface="Consolas"/>
              </a:defRPr>
            </a:pPr>
            <a:r>
              <a:t>THETA_MIN / MAX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16 / 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Threshold bounds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704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C99"/>
                </a:solidFill>
                <a:latin typeface="Consolas"/>
              </a:defRPr>
            </a:pPr>
            <a:r>
              <a:t>THETA_INIT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870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870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Initial threshold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4. AER Event Packetizer &amp; FIFO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Calibri"/>
              </a:defRPr>
            </a:pPr>
            <a:r>
              <a:t>Address Event Representation — industry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999AA"/>
                </a:solidFill>
                <a:latin typeface="Calibri"/>
              </a:defRPr>
            </a:pPr>
            <a:r>
              <a:t>AER encodes spike events as {channel_address, direction, timestamp} tuples. Priority encoder resolves simultaneous spikes; FIFO(16) buffers output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011680" cy="914400"/>
          </a:xfrm>
          <a:prstGeom prst="round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32× Spike 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2880360"/>
            <a:ext cx="182880" cy="182880"/>
          </a:xfrm>
          <a:prstGeom prst="rightArrow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0" y="2560320"/>
            <a:ext cx="2011680" cy="914400"/>
          </a:xfrm>
          <a:prstGeom prst="round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Priority</a:t>
            </a:r>
            <a:br/>
            <a:r>
              <a:t>Encoder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74920" y="2880360"/>
            <a:ext cx="182880" cy="182880"/>
          </a:xfrm>
          <a:prstGeom prst="rightArrow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0" y="2560320"/>
            <a:ext cx="2011680" cy="914400"/>
          </a:xfrm>
          <a:prstGeom prst="round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Event</a:t>
            </a:r>
            <a:br/>
            <a:r>
              <a:t>Pack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60920" y="2880360"/>
            <a:ext cx="182880" cy="182880"/>
          </a:xfrm>
          <a:prstGeom prst="rightArrow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0" y="2560320"/>
            <a:ext cx="2011680" cy="914400"/>
          </a:xfrm>
          <a:prstGeom prst="round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FIFO</a:t>
            </a:r>
            <a:br/>
            <a:r>
              <a:t>(Depth 16)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46920" y="2880360"/>
            <a:ext cx="182880" cy="182880"/>
          </a:xfrm>
          <a:prstGeom prst="rightArrow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75520" y="2560320"/>
            <a:ext cx="2011680" cy="914400"/>
          </a:xfrm>
          <a:prstGeom prst="round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AER</a:t>
            </a:r>
            <a:br/>
            <a:r>
              <a:t>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6858000" cy="27432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99"/>
                </a:solidFill>
                <a:latin typeface="Consolas"/>
              </a:defRPr>
            </a:pPr>
            <a:r>
              <a:t>Output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event_valid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389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Event data valid strobe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091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event_channel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70915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7091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Source channel [0–31]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event_direction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0=spike_down, 1=spike_up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event_timestamp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349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onsolas"/>
              </a:defRPr>
            </a:pPr>
            <a:r>
              <a:t>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349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Monotonic event counter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692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fifo_full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6692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6692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FIFO at capacity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fifo_overflow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89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989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Event dropped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3093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fifo_level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630935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63093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Current FIFO fill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5. Fanout Buffer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Calibri"/>
              </a:defRPr>
            </a:pPr>
            <a:r>
              <a:t>Solving max_fanout violations on high-fanout control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Calibri"/>
              </a:defRPr>
            </a:pPr>
            <a:r>
              <a:t>Problem: Control signals (rst_n, en, cfg_*) drive all 32 channels simultaneously → 891 loads on single net → 182ns slew @ SS corner → 2470 violations.</a:t>
            </a:r>
            <a:br/>
            <a:br/>
            <a:r>
              <a:t>Solution: sfe_fanout_buffer limits fanout to MAX_FANOUT=10 per stage. Each bit of multi-bit signals gets its own buffer tree.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1097280" cy="548640"/>
          </a:xfrm>
          <a:prstGeom prst="round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1645920" cy="457200"/>
          </a:xfrm>
          <a:prstGeom prst="round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buf_0 → out[0:9]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286000"/>
            <a:ext cx="1645920" cy="457200"/>
          </a:xfrm>
          <a:prstGeom prst="round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buf_1 → out[10:19]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926080"/>
            <a:ext cx="1645920" cy="457200"/>
          </a:xfrm>
          <a:prstGeom prst="round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buf_2 → out[20:29]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99"/>
                </a:solidFill>
                <a:latin typeface="Calibri"/>
              </a:defRPr>
            </a:pPr>
            <a:r>
              <a:t>Signals buffered by sfe_fanout_buffer: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Consolas"/>
              </a:defRPr>
            </a:pPr>
            <a:r>
              <a:t>en, rst_n, cfg_enable_adaptive, cfg_enable_leakage, cfg_enable_refractory, decay_tick, cfg_load (1-bit)</a:t>
            </a:r>
            <a:br/>
            <a:r>
              <a:t>cfg_theta_min[15:0], cfg_theta_max[15:0], cfg_theta_init[15:0], cfg_refractory_len (multi-bit, per-bit trees)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515600" cy="118872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C99"/>
                </a:solidFill>
                <a:latin typeface="Calibri"/>
              </a:defRPr>
            </a:pPr>
            <a:r>
              <a:t>Buffer Tree Resource Cost: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7 × 1-bit buffer trees (fanout 32 each) + 16×THETA_WIDTH + 16×THETA_WIDTH + 16×THETA_WIDTH + REFRACTORY_WIDTH multi-bit trees = ~100 buffer instances total. Negligible area impact (&lt;0.1%).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6. Padring Interface &amp; Pin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Calibri"/>
              </a:defRPr>
            </a:pPr>
            <a:r>
              <a:t>Workshop Slot — 2935×2935 µm die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55566"/>
                </a:solidFill>
                <a:latin typeface="Consolas"/>
              </a:defRPr>
            </a:pPr>
            <a:r>
              <a:t>analog (asig_5p0)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Reserved for future 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99FF"/>
                </a:solidFill>
                <a:latin typeface="Consolas"/>
              </a:defRPr>
            </a:pPr>
            <a:r>
              <a:t>bidir (bi_24t)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603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4× config IN + 16× status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33"/>
                </a:solidFill>
                <a:latin typeface="Consolas"/>
              </a:defRPr>
            </a:pPr>
            <a:r>
              <a:t>DVDD / DVSS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2918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4+4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Core and I/O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C66"/>
                </a:solidFill>
                <a:latin typeface="Consolas"/>
              </a:defRPr>
            </a:pPr>
            <a:r>
              <a:t>clk_pad (in_s)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023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25 MHz system clock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55"/>
                </a:solidFill>
                <a:latin typeface="Consolas"/>
              </a:defRPr>
            </a:pPr>
            <a:r>
              <a:t>rst_n_pad (in_c)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754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Active-low async reset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55566"/>
                </a:solidFill>
                <a:latin typeface="Consolas"/>
              </a:defRPr>
            </a:pPr>
            <a:r>
              <a:t>corner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486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Auto-inserted by LibreLane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645920"/>
            <a:ext cx="5303520" cy="475488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C99"/>
                </a:solidFill>
                <a:latin typeface="Calibri"/>
              </a:defRPr>
            </a:pPr>
            <a:r>
              <a:t>Bidir Pad Assignment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194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933"/>
                </a:solidFill>
                <a:latin typeface="Consolas"/>
              </a:defRPr>
            </a:pPr>
            <a:r>
              <a:t>bidir[3:0]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194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33"/>
                </a:solidFill>
                <a:latin typeface="Calibri"/>
              </a:defRPr>
            </a:pPr>
            <a:r>
              <a:t>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onsolas"/>
              </a:defRPr>
            </a:pPr>
            <a:r>
              <a:t>run_en, fixed_threshold, decay_tick_2, disable_refractory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743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99FF"/>
                </a:solidFill>
                <a:latin typeface="Consolas"/>
              </a:defRPr>
            </a:pPr>
            <a:r>
              <a:t>bidir[4]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99FF"/>
                </a:solidFill>
                <a:latin typeface="Calibri"/>
              </a:defRPr>
            </a:pPr>
            <a:r>
              <a:t>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onsolas"/>
              </a:defRPr>
            </a:pPr>
            <a:r>
              <a:t>event_valid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99FF"/>
                </a:solidFill>
                <a:latin typeface="Consolas"/>
              </a:defRPr>
            </a:pPr>
            <a:r>
              <a:t>bidir[5]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2918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99FF"/>
                </a:solidFill>
                <a:latin typeface="Calibri"/>
              </a:defRPr>
            </a:pPr>
            <a:r>
              <a:t>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2918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onsolas"/>
              </a:defRPr>
            </a:pPr>
            <a:r>
              <a:t>event_direction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8404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99FF"/>
                </a:solidFill>
                <a:latin typeface="Consolas"/>
              </a:defRPr>
            </a:pPr>
            <a:r>
              <a:t>bidir[10:6]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8404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99FF"/>
                </a:solidFill>
                <a:latin typeface="Calibri"/>
              </a:defRPr>
            </a:pPr>
            <a:r>
              <a:t>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8404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onsolas"/>
              </a:defRPr>
            </a:pPr>
            <a:r>
              <a:t>event_channel[4:0]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99FF"/>
                </a:solidFill>
                <a:latin typeface="Consolas"/>
              </a:defRPr>
            </a:pPr>
            <a:r>
              <a:t>bidir[17:11]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389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99FF"/>
                </a:solidFill>
                <a:latin typeface="Calibri"/>
              </a:defRPr>
            </a:pPr>
            <a:r>
              <a:t>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onsolas"/>
              </a:defRPr>
            </a:pPr>
            <a:r>
              <a:t>event_timestamp[6:0]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937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99FF"/>
                </a:solidFill>
                <a:latin typeface="Consolas"/>
              </a:defRPr>
            </a:pPr>
            <a:r>
              <a:t>bidir[18]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937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99FF"/>
                </a:solidFill>
                <a:latin typeface="Calibri"/>
              </a:defRPr>
            </a:pPr>
            <a:r>
              <a:t>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onsolas"/>
              </a:defRPr>
            </a:pPr>
            <a:r>
              <a:t>overflow_flag (fifo_full | overflow)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486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99FF"/>
                </a:solidFill>
                <a:latin typeface="Consolas"/>
              </a:defRPr>
            </a:pPr>
            <a:r>
              <a:t>bidir[19]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5486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99FF"/>
                </a:solidFill>
                <a:latin typeface="Calibri"/>
              </a:defRPr>
            </a:pPr>
            <a:r>
              <a:t>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onsolas"/>
              </a:defRPr>
            </a:pPr>
            <a:r>
              <a:t>heartbeat (1 Hz toggle)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7. Build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Calibri"/>
              </a:defRPr>
            </a:pPr>
            <a:r>
              <a:t>LibreLane 3.0 + GF180MCU PDK 1.8.0 · 2026-06-23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C66"/>
                </a:solidFill>
                <a:latin typeface="Calibri"/>
              </a:defRPr>
            </a:pPr>
            <a:r>
              <a:t>✅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Calibri"/>
              </a:defRPr>
            </a:pPr>
            <a:r>
              <a:t>Lint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783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C66"/>
                </a:solidFill>
                <a:latin typeface="Calibri"/>
              </a:defRPr>
            </a:pPr>
            <a:r>
              <a:t>✅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377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Calibri"/>
              </a:defRPr>
            </a:pPr>
            <a:r>
              <a:t>Timing Violations</a:t>
            </a:r>
            <a:br/>
            <a:r>
              <a:t>(setup/hold)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99FF"/>
                </a:solidFill>
                <a:latin typeface="Calibri"/>
              </a:defRPr>
            </a:pPr>
            <a:r>
              <a:t>129,874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Calibri"/>
              </a:defRPr>
            </a:pPr>
            <a:r>
              <a:t>Instances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83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99FF"/>
                </a:solidFill>
                <a:latin typeface="Calibri"/>
              </a:defRPr>
            </a:pPr>
            <a:r>
              <a:t>7.81M µm²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77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Calibri"/>
              </a:defRPr>
            </a:pPr>
            <a:r>
              <a:t>Design Area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24612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3383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C99"/>
                </a:solidFill>
                <a:latin typeface="Calibri"/>
              </a:defRPr>
            </a:pPr>
            <a:r>
              <a:t>0.018 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977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Calibri"/>
              </a:defRPr>
            </a:pPr>
            <a:r>
              <a:t>Total Power</a:t>
            </a:r>
            <a:br/>
            <a:r>
              <a:t>(TT 25°C 5.0V)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24612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383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99FF"/>
                </a:solidFill>
                <a:latin typeface="Calibri"/>
              </a:defRPr>
            </a:pPr>
            <a:r>
              <a:t>85 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977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Calibri"/>
              </a:defRPr>
            </a:pPr>
            <a:r>
              <a:t>Final GDS</a:t>
            </a:r>
            <a:br/>
            <a:r>
              <a:t>Size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632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999AA"/>
                </a:solidFill>
                <a:latin typeface="Calibri"/>
              </a:defRPr>
            </a:pPr>
            <a:r>
              <a:t>~2h 15m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77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Calibri"/>
              </a:defRPr>
            </a:pPr>
            <a:r>
              <a:t>Full Signoff</a:t>
            </a:r>
            <a:br/>
            <a:r>
              <a:t>Build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484632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1999" y="4983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933"/>
                </a:solidFill>
                <a:latin typeface="Calibri"/>
              </a:defRPr>
            </a:pPr>
            <a:r>
              <a:t>⚠ 2470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5577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Calibri"/>
              </a:defRPr>
            </a:pPr>
            <a:r>
              <a:t>Max Slew @ SS</a:t>
            </a:r>
            <a:br/>
            <a:r>
              <a:t>(Fix Applied)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846320"/>
            <a:ext cx="3383280" cy="137160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983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933"/>
                </a:solidFill>
                <a:latin typeface="Calibri"/>
              </a:defRPr>
            </a:pPr>
            <a:r>
              <a:t>⚠ 65/22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577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Calibri"/>
              </a:defRPr>
            </a:pPr>
            <a:r>
              <a:t>Fanout/Cap</a:t>
            </a:r>
            <a:br/>
            <a:r>
              <a:t>Violations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8. Open Issues &amp; Mitigations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754880"/>
          </a:xfrm>
          <a:prstGeom prst="roundRect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933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Max Slew Violations (SS corner)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2470 violations, 182ns on rst_core_n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C66"/>
                </a:solidFill>
                <a:latin typeface="Calibri"/>
              </a:defRPr>
            </a:pPr>
            <a:r>
              <a:t>✅ Reset buffer tree added to chip_core.sv; SYNTH_MAX_FANOUT=10; MAX_TRANSITION_CONSTRAINT=3.0; rebuild 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933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Max Fanout / Max Cap Violations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65 fanout + 22 cap violations across all corners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C66"/>
                </a:solidFill>
                <a:latin typeface="Calibri"/>
              </a:defRPr>
            </a:pPr>
            <a:r>
              <a:t>✅ SYNTH_MAX_FANOUT=10 in config.yaml; post-PNR repair_design pass enabled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99FF"/>
                </a:solidFill>
                <a:latin typeface="Calibri"/>
              </a:defRPr>
            </a:pPr>
            <a:r>
              <a:t>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Cocotb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PDK path resolution issue in testbench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77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Fix PDK_ROOT path mapping; run make sim inside Docker 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66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Analog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60 analog pads currently unused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92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Future phase: integrate analog filterbank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66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Chip ID / Logo Macros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Calibri"/>
              </a:defRPr>
            </a:pPr>
            <a:r>
              <a:t>Not included in current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806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Enable MACROS section in config.yaml for tapeout submission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CC99"/>
                </a:solidFill>
                <a:latin typeface="Calibri"/>
              </a:defRPr>
            </a:pPr>
            <a:r>
              <a:t>Next: Rebuild with slew fix → Run cocotb sim → Week 28 Simulation Review (blocks) → Week 29 Go/No-Go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743200"/>
            <a:ext cx="2743200" cy="381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AA"/>
                </a:solidFill>
                <a:latin typeface="Calibri"/>
              </a:defRPr>
            </a:pPr>
            <a:r>
              <a:t>SFE Audio Frontend — 32-Channel Spiking Frequency Encoder</a:t>
            </a:r>
            <a:br/>
            <a:r>
              <a:t>TeamVKU · Track A · SSCS Chipathon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99FF"/>
                </a:solidFill>
                <a:latin typeface="Calibri"/>
              </a:defRPr>
            </a:pPr>
            <a:r>
              <a:t>github.com/hoangvu10105/chipathon-2026-teamvku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Issue #167 · Discord: #2026-track-a-foundational-building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